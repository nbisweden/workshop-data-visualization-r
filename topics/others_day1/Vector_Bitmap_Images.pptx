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25"/>
  </p:notesMasterIdLst>
  <p:sldIdLst>
    <p:sldId id="256" r:id="rId2"/>
    <p:sldId id="274" r:id="rId3"/>
    <p:sldId id="257" r:id="rId4"/>
    <p:sldId id="258" r:id="rId5"/>
    <p:sldId id="259" r:id="rId6"/>
    <p:sldId id="263" r:id="rId7"/>
    <p:sldId id="261" r:id="rId8"/>
    <p:sldId id="264" r:id="rId9"/>
    <p:sldId id="265" r:id="rId10"/>
    <p:sldId id="273" r:id="rId11"/>
    <p:sldId id="260" r:id="rId12"/>
    <p:sldId id="266" r:id="rId13"/>
    <p:sldId id="267" r:id="rId14"/>
    <p:sldId id="268" r:id="rId15"/>
    <p:sldId id="272" r:id="rId16"/>
    <p:sldId id="271" r:id="rId17"/>
    <p:sldId id="270" r:id="rId18"/>
    <p:sldId id="262" r:id="rId19"/>
    <p:sldId id="276" r:id="rId20"/>
    <p:sldId id="277" r:id="rId21"/>
    <p:sldId id="278" r:id="rId22"/>
    <p:sldId id="275" r:id="rId23"/>
    <p:sldId id="269" r:id="rId2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793"/>
    <p:restoredTop sz="94830"/>
  </p:normalViewPr>
  <p:slideViewPr>
    <p:cSldViewPr snapToGrid="0" snapToObjects="1">
      <p:cViewPr varScale="1">
        <p:scale>
          <a:sx n="140" d="100"/>
          <a:sy n="140" d="100"/>
        </p:scale>
        <p:origin x="21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3705FC-63C5-9442-9C5B-9C5CBC3BD228}" type="datetimeFigureOut">
              <a:rPr lang="en-SE" smtClean="0"/>
              <a:t>2026-05-05</a:t>
            </a:fld>
            <a:endParaRPr lang="en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8D9BE8-D76A-8148-8BD8-D5A63CED6BD1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94858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D9BE8-D76A-8148-8BD8-D5A63CED6BD1}" type="slidenum">
              <a:rPr lang="en-SE" smtClean="0"/>
              <a:t>5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7787143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D9BE8-D76A-8148-8BD8-D5A63CED6BD1}" type="slidenum">
              <a:rPr lang="en-SE" smtClean="0"/>
              <a:t>10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7993099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D9BE8-D76A-8148-8BD8-D5A63CED6BD1}" type="slidenum">
              <a:rPr lang="en-SE" smtClean="0"/>
              <a:t>13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968324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A2B7A-FF88-5748-A8BD-2BF0B67869F4}" type="datetimeFigureOut">
              <a:rPr lang="en-SE" smtClean="0"/>
              <a:t>2026-05-05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969CF-407E-A044-A129-5EBE78A871C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047685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A2B7A-FF88-5748-A8BD-2BF0B67869F4}" type="datetimeFigureOut">
              <a:rPr lang="en-SE" smtClean="0"/>
              <a:t>2026-05-05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969CF-407E-A044-A129-5EBE78A871C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099098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A2B7A-FF88-5748-A8BD-2BF0B67869F4}" type="datetimeFigureOut">
              <a:rPr lang="en-SE" smtClean="0"/>
              <a:t>2026-05-05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969CF-407E-A044-A129-5EBE78A871C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525408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A2B7A-FF88-5748-A8BD-2BF0B67869F4}" type="datetimeFigureOut">
              <a:rPr lang="en-SE" smtClean="0"/>
              <a:t>2026-05-05</a:t>
            </a:fld>
            <a:endParaRPr lang="en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969CF-407E-A044-A129-5EBE78A871C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098143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A2B7A-FF88-5748-A8BD-2BF0B67869F4}" type="datetimeFigureOut">
              <a:rPr lang="en-SE" smtClean="0"/>
              <a:t>2026-05-05</a:t>
            </a:fld>
            <a:endParaRPr lang="en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969CF-407E-A044-A129-5EBE78A871C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16507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A2B7A-FF88-5748-A8BD-2BF0B67869F4}" type="datetimeFigureOut">
              <a:rPr lang="en-SE" smtClean="0"/>
              <a:t>2026-05-05</a:t>
            </a:fld>
            <a:endParaRPr lang="en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969CF-407E-A044-A129-5EBE78A871C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146148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A2B7A-FF88-5748-A8BD-2BF0B67869F4}" type="datetimeFigureOut">
              <a:rPr lang="en-SE" smtClean="0"/>
              <a:t>2026-05-05</a:t>
            </a:fld>
            <a:endParaRPr lang="en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969CF-407E-A044-A129-5EBE78A871C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090743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A2B7A-FF88-5748-A8BD-2BF0B67869F4}" type="datetimeFigureOut">
              <a:rPr lang="en-SE" smtClean="0"/>
              <a:t>2026-05-05</a:t>
            </a:fld>
            <a:endParaRPr lang="en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969CF-407E-A044-A129-5EBE78A871C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207606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A2B7A-FF88-5748-A8BD-2BF0B67869F4}" type="datetimeFigureOut">
              <a:rPr lang="en-SE" smtClean="0"/>
              <a:t>2026-05-05</a:t>
            </a:fld>
            <a:endParaRPr lang="en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969CF-407E-A044-A129-5EBE78A871C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474572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A2B7A-FF88-5748-A8BD-2BF0B67869F4}" type="datetimeFigureOut">
              <a:rPr lang="en-SE" smtClean="0"/>
              <a:t>2026-05-05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969CF-407E-A044-A129-5EBE78A871C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242567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A2B7A-FF88-5748-A8BD-2BF0B67869F4}" type="datetimeFigureOut">
              <a:rPr lang="en-SE" smtClean="0"/>
              <a:t>2026-05-05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969CF-407E-A044-A129-5EBE78A871C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146781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A2B7A-FF88-5748-A8BD-2BF0B67869F4}" type="datetimeFigureOut">
              <a:rPr lang="en-SE" smtClean="0"/>
              <a:t>2026-05-05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5969CF-407E-A044-A129-5EBE78A871C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841348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CCA0DC1-034A-4F4D-80CA-B928661B4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6931"/>
            <a:ext cx="9144000" cy="51604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2491FC5-6E45-4E4C-ABF3-5A17B3489AEA}"/>
              </a:ext>
            </a:extLst>
          </p:cNvPr>
          <p:cNvSpPr txBox="1"/>
          <p:nvPr/>
        </p:nvSpPr>
        <p:spPr>
          <a:xfrm>
            <a:off x="484992" y="3198724"/>
            <a:ext cx="7422874" cy="1873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E" sz="4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Vector and bitmap images</a:t>
            </a:r>
          </a:p>
          <a:p>
            <a:endParaRPr lang="en-SE" sz="1575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lang="en-GB" sz="2800" dirty="0">
                <a:ln w="0"/>
                <a:solidFill>
                  <a:schemeClr val="bg2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Workshop </a:t>
            </a:r>
            <a:r>
              <a:rPr lang="en-GB" sz="2800">
                <a:ln w="0"/>
                <a:solidFill>
                  <a:schemeClr val="bg2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on Advanced Data Visualization</a:t>
            </a:r>
            <a:endParaRPr lang="en-SE" sz="2800" dirty="0">
              <a:ln w="0"/>
              <a:solidFill>
                <a:schemeClr val="bg2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lang="en-SE" sz="280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Markus Ringnér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BE6C042-F0D0-9146-B1C5-CA86FE1D6700}"/>
              </a:ext>
            </a:extLst>
          </p:cNvPr>
          <p:cNvCxnSpPr>
            <a:cxnSpLocks/>
          </p:cNvCxnSpPr>
          <p:nvPr/>
        </p:nvCxnSpPr>
        <p:spPr>
          <a:xfrm>
            <a:off x="581389" y="4050901"/>
            <a:ext cx="649674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77F1CBFD-7A8B-9641-964D-9DD5649B80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42891" y="213244"/>
            <a:ext cx="3891199" cy="792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887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67A85-6D3A-A346-BC36-E638F6168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E" sz="4400" dirty="0">
                <a:solidFill>
                  <a:schemeClr val="accent2"/>
                </a:solidFill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B3086-4165-8E4C-A512-66560AD183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E" dirty="0"/>
              <a:t>Once you have designed and produced your plot, how do you make sure it can be used in </a:t>
            </a:r>
            <a:r>
              <a:rPr lang="en-GB" dirty="0"/>
              <a:t>publication quality figures?</a:t>
            </a:r>
          </a:p>
          <a:p>
            <a:endParaRPr lang="en-GB" dirty="0"/>
          </a:p>
          <a:p>
            <a:r>
              <a:rPr lang="en-SE" dirty="0"/>
              <a:t>There will be some R and ggplot at the end.</a:t>
            </a:r>
          </a:p>
        </p:txBody>
      </p:sp>
    </p:spTree>
    <p:extLst>
      <p:ext uri="{BB962C8B-B14F-4D97-AF65-F5344CB8AC3E}">
        <p14:creationId xmlns:p14="http://schemas.microsoft.com/office/powerpoint/2010/main" val="2133654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DBE38-B8FE-5F4F-8618-F77BA7FAA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928" y="848321"/>
            <a:ext cx="5915025" cy="745629"/>
          </a:xfrm>
        </p:spPr>
        <p:txBody>
          <a:bodyPr>
            <a:normAutofit/>
          </a:bodyPr>
          <a:lstStyle/>
          <a:p>
            <a:pPr algn="ctr"/>
            <a:r>
              <a:rPr lang="en-SE" sz="4400" dirty="0">
                <a:solidFill>
                  <a:schemeClr val="accent2"/>
                </a:solidFill>
                <a:latin typeface="+mn-lt"/>
              </a:rPr>
              <a:t>What is an image?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856B0C-61D9-CF45-89F9-65CEB0148E41}"/>
              </a:ext>
            </a:extLst>
          </p:cNvPr>
          <p:cNvSpPr txBox="1"/>
          <p:nvPr/>
        </p:nvSpPr>
        <p:spPr>
          <a:xfrm>
            <a:off x="1478280" y="2728140"/>
            <a:ext cx="637032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E" sz="3000" dirty="0"/>
              <a:t>How are images stored on computers?</a:t>
            </a:r>
          </a:p>
        </p:txBody>
      </p:sp>
    </p:spTree>
    <p:extLst>
      <p:ext uri="{BB962C8B-B14F-4D97-AF65-F5344CB8AC3E}">
        <p14:creationId xmlns:p14="http://schemas.microsoft.com/office/powerpoint/2010/main" val="3311660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4A11E-3937-5249-A81C-318EFBD06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E" sz="4400" dirty="0">
                <a:solidFill>
                  <a:schemeClr val="accent2"/>
                </a:solidFill>
              </a:rPr>
              <a:t>This is an image!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0A27668-32F9-EE48-BCDB-0C181548CA0E}"/>
              </a:ext>
            </a:extLst>
          </p:cNvPr>
          <p:cNvSpPr/>
          <p:nvPr/>
        </p:nvSpPr>
        <p:spPr>
          <a:xfrm>
            <a:off x="2763000" y="1619250"/>
            <a:ext cx="3809700" cy="1906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 sz="13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A3EE89-634E-E948-BF8A-4CC9785C1188}"/>
              </a:ext>
            </a:extLst>
          </p:cNvPr>
          <p:cNvSpPr txBox="1"/>
          <p:nvPr/>
        </p:nvSpPr>
        <p:spPr>
          <a:xfrm>
            <a:off x="4049237" y="3736984"/>
            <a:ext cx="108965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sz="1350" dirty="0"/>
              <a:t>Now it is art!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9178144-D806-7F46-B3E8-77EFC42F7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1300" y="1619250"/>
            <a:ext cx="38100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239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765511A1-A536-134A-87A2-9112F4E24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4488" y="273845"/>
            <a:ext cx="5915025" cy="994172"/>
          </a:xfrm>
        </p:spPr>
        <p:txBody>
          <a:bodyPr>
            <a:normAutofit/>
          </a:bodyPr>
          <a:lstStyle/>
          <a:p>
            <a:r>
              <a:rPr lang="en-SE" sz="4400" dirty="0">
                <a:solidFill>
                  <a:schemeClr val="accent2"/>
                </a:solidFill>
              </a:rPr>
              <a:t>Bitmap (or raster) image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1D4A8C1-A1EB-A944-9CB1-42CDADB0E3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0140" y="1618650"/>
            <a:ext cx="3816109" cy="19062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CA3C08C-884B-894A-B151-E6E531846B77}"/>
              </a:ext>
            </a:extLst>
          </p:cNvPr>
          <p:cNvSpPr txBox="1"/>
          <p:nvPr/>
        </p:nvSpPr>
        <p:spPr>
          <a:xfrm>
            <a:off x="1744980" y="3976958"/>
            <a:ext cx="39995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SE" dirty="0"/>
              <a:t>File size depends on resolution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SE" dirty="0"/>
              <a:t>Number of pixels * 1 bit (black/white).</a:t>
            </a:r>
          </a:p>
        </p:txBody>
      </p:sp>
    </p:spTree>
    <p:extLst>
      <p:ext uri="{BB962C8B-B14F-4D97-AF65-F5344CB8AC3E}">
        <p14:creationId xmlns:p14="http://schemas.microsoft.com/office/powerpoint/2010/main" val="4193760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FE16C-EC2C-AD4F-81E6-27A8B93A1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E" sz="3600" dirty="0">
                <a:solidFill>
                  <a:schemeClr val="accent2"/>
                </a:solidFill>
              </a:rPr>
              <a:t>Vector image in (encapsulated) postscript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082313-7D68-0946-80BB-C069AE8FC9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0" y="2106930"/>
            <a:ext cx="3810000" cy="1905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EF21CB-478A-9342-AA23-4F77D7FC6019}"/>
              </a:ext>
            </a:extLst>
          </p:cNvPr>
          <p:cNvSpPr txBox="1"/>
          <p:nvPr/>
        </p:nvSpPr>
        <p:spPr>
          <a:xfrm>
            <a:off x="5158740" y="2091690"/>
            <a:ext cx="2643672" cy="21698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35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%!PS</a:t>
            </a:r>
          </a:p>
          <a:p>
            <a:r>
              <a:rPr lang="en-GB" sz="135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%%Creator: Markus Ringnér</a:t>
            </a:r>
          </a:p>
          <a:p>
            <a:r>
              <a:rPr lang="en-GB" sz="135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%%</a:t>
            </a:r>
            <a:r>
              <a:rPr lang="en-GB" sz="135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BoundingBox</a:t>
            </a:r>
            <a:r>
              <a:rPr lang="en-GB" sz="135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0 0 400 200</a:t>
            </a:r>
          </a:p>
          <a:p>
            <a:r>
              <a:rPr lang="en-GB" sz="135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%%End Comments</a:t>
            </a:r>
          </a:p>
          <a:p>
            <a:r>
              <a:rPr lang="en-GB" sz="1350" dirty="0" err="1">
                <a:latin typeface="Consolas" panose="020B0609020204030204" pitchFamily="49" charset="0"/>
                <a:cs typeface="Consolas" panose="020B0609020204030204" pitchFamily="49" charset="0"/>
              </a:rPr>
              <a:t>newpath</a:t>
            </a:r>
            <a:endParaRPr lang="en-GB" sz="13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350" dirty="0">
                <a:latin typeface="Consolas" panose="020B0609020204030204" pitchFamily="49" charset="0"/>
                <a:cs typeface="Consolas" panose="020B0609020204030204" pitchFamily="49" charset="0"/>
              </a:rPr>
              <a:t>150 50 </a:t>
            </a:r>
            <a:r>
              <a:rPr lang="en-GB" sz="1350" dirty="0" err="1">
                <a:latin typeface="Consolas" panose="020B0609020204030204" pitchFamily="49" charset="0"/>
                <a:cs typeface="Consolas" panose="020B0609020204030204" pitchFamily="49" charset="0"/>
              </a:rPr>
              <a:t>moveto</a:t>
            </a:r>
            <a:endParaRPr lang="en-GB" sz="13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350" dirty="0">
                <a:latin typeface="Consolas" panose="020B0609020204030204" pitchFamily="49" charset="0"/>
                <a:cs typeface="Consolas" panose="020B0609020204030204" pitchFamily="49" charset="0"/>
              </a:rPr>
              <a:t>300 100 </a:t>
            </a:r>
            <a:r>
              <a:rPr lang="en-GB" sz="1350" dirty="0" err="1">
                <a:latin typeface="Consolas" panose="020B0609020204030204" pitchFamily="49" charset="0"/>
                <a:cs typeface="Consolas" panose="020B0609020204030204" pitchFamily="49" charset="0"/>
              </a:rPr>
              <a:t>lineto</a:t>
            </a:r>
            <a:endParaRPr lang="en-GB" sz="13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350" dirty="0">
                <a:latin typeface="Consolas" panose="020B0609020204030204" pitchFamily="49" charset="0"/>
                <a:cs typeface="Consolas" panose="020B0609020204030204" pitchFamily="49" charset="0"/>
              </a:rPr>
              <a:t>150 150 </a:t>
            </a:r>
            <a:r>
              <a:rPr lang="en-GB" sz="1350" dirty="0" err="1">
                <a:latin typeface="Consolas" panose="020B0609020204030204" pitchFamily="49" charset="0"/>
                <a:cs typeface="Consolas" panose="020B0609020204030204" pitchFamily="49" charset="0"/>
              </a:rPr>
              <a:t>lineto</a:t>
            </a:r>
            <a:endParaRPr lang="en-GB" sz="13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350" dirty="0">
                <a:latin typeface="Consolas" panose="020B0609020204030204" pitchFamily="49" charset="0"/>
                <a:cs typeface="Consolas" panose="020B0609020204030204" pitchFamily="49" charset="0"/>
              </a:rPr>
              <a:t>10 </a:t>
            </a:r>
            <a:r>
              <a:rPr lang="en-GB" sz="1350" dirty="0" err="1">
                <a:latin typeface="Consolas" panose="020B0609020204030204" pitchFamily="49" charset="0"/>
                <a:cs typeface="Consolas" panose="020B0609020204030204" pitchFamily="49" charset="0"/>
              </a:rPr>
              <a:t>setlinewidth</a:t>
            </a:r>
            <a:endParaRPr lang="en-GB" sz="13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350" dirty="0">
                <a:latin typeface="Consolas" panose="020B0609020204030204" pitchFamily="49" charset="0"/>
                <a:cs typeface="Consolas" panose="020B0609020204030204" pitchFamily="49" charset="0"/>
              </a:rPr>
              <a:t>stroke</a:t>
            </a:r>
            <a:endParaRPr lang="en-SE" sz="135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DC787C-1EDE-3949-94C7-5C5EE3F2A867}"/>
              </a:ext>
            </a:extLst>
          </p:cNvPr>
          <p:cNvSpPr/>
          <p:nvPr/>
        </p:nvSpPr>
        <p:spPr>
          <a:xfrm>
            <a:off x="1249680" y="2105730"/>
            <a:ext cx="3809700" cy="1906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 sz="135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8DE923-59C3-E34A-9CD3-943CF12E3933}"/>
              </a:ext>
            </a:extLst>
          </p:cNvPr>
          <p:cNvSpPr txBox="1"/>
          <p:nvPr/>
        </p:nvSpPr>
        <p:spPr>
          <a:xfrm>
            <a:off x="4206240" y="1684020"/>
            <a:ext cx="140032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350" dirty="0"/>
              <a:t>p</a:t>
            </a:r>
            <a:r>
              <a:rPr lang="en-SE" sz="1350" dirty="0"/>
              <a:t>s_example1.eps</a:t>
            </a:r>
          </a:p>
        </p:txBody>
      </p:sp>
    </p:spTree>
    <p:extLst>
      <p:ext uri="{BB962C8B-B14F-4D97-AF65-F5344CB8AC3E}">
        <p14:creationId xmlns:p14="http://schemas.microsoft.com/office/powerpoint/2010/main" val="3845728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313EB-0E86-4844-A771-C5A106B78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5646" y="273845"/>
            <a:ext cx="5915025" cy="692498"/>
          </a:xfrm>
        </p:spPr>
        <p:txBody>
          <a:bodyPr>
            <a:noAutofit/>
          </a:bodyPr>
          <a:lstStyle/>
          <a:p>
            <a:pPr algn="ctr"/>
            <a:r>
              <a:rPr lang="en-SE" sz="4400" dirty="0">
                <a:solidFill>
                  <a:schemeClr val="accent2"/>
                </a:solidFill>
              </a:rPr>
              <a:t>John Warnock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0F9CD5-4E19-354B-B934-A80E9F4D6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8705" y="1005369"/>
            <a:ext cx="2008909" cy="23552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9DCBF4-BA7C-9F4F-BA4D-7A8DCB5F1843}"/>
              </a:ext>
            </a:extLst>
          </p:cNvPr>
          <p:cNvSpPr txBox="1"/>
          <p:nvPr/>
        </p:nvSpPr>
        <p:spPr>
          <a:xfrm>
            <a:off x="1614488" y="3603123"/>
            <a:ext cx="6109274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GB" sz="1350" dirty="0"/>
              <a:t>A Hidden Surface Algorithm for Computer Generated Half-Tone Pictures (1969).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GB" sz="1350" dirty="0"/>
              <a:t>Inventor of postscript, pdf, …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GB" sz="1350" dirty="0"/>
          </a:p>
          <a:p>
            <a:r>
              <a:rPr lang="en-GB" sz="1350" dirty="0"/>
              <a:t>Key idea was to describe all of the content of pages for printing not as collections of spots, but at a much more abstract level – as geometry. </a:t>
            </a:r>
          </a:p>
          <a:p>
            <a:endParaRPr lang="en-SE" sz="1350" dirty="0"/>
          </a:p>
        </p:txBody>
      </p:sp>
    </p:spTree>
    <p:extLst>
      <p:ext uri="{BB962C8B-B14F-4D97-AF65-F5344CB8AC3E}">
        <p14:creationId xmlns:p14="http://schemas.microsoft.com/office/powerpoint/2010/main" val="2270133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93212-9298-4F45-91D7-98988E826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E" sz="4400" dirty="0">
                <a:solidFill>
                  <a:schemeClr val="accent2"/>
                </a:solidFill>
              </a:rPr>
              <a:t>File sizes of images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5E82F-2274-3B44-85F5-375BF72321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5420" y="1254919"/>
            <a:ext cx="6477000" cy="52816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GB" sz="1350" dirty="0">
                <a:latin typeface="Consolas" panose="020B0609020204030204" pitchFamily="49" charset="0"/>
                <a:cs typeface="Consolas" panose="020B0609020204030204" pitchFamily="49" charset="0"/>
              </a:rPr>
              <a:t>$ </a:t>
            </a:r>
            <a:r>
              <a:rPr lang="en-GB" sz="1350" dirty="0" err="1">
                <a:latin typeface="Consolas" panose="020B0609020204030204" pitchFamily="49" charset="0"/>
                <a:cs typeface="Consolas" panose="020B0609020204030204" pitchFamily="49" charset="0"/>
              </a:rPr>
              <a:t>wc</a:t>
            </a:r>
            <a:r>
              <a:rPr lang="en-GB" sz="1350" dirty="0">
                <a:latin typeface="Consolas" panose="020B0609020204030204" pitchFamily="49" charset="0"/>
                <a:cs typeface="Consolas" panose="020B0609020204030204" pitchFamily="49" charset="0"/>
              </a:rPr>
              <a:t> ps_example1.eps</a:t>
            </a:r>
            <a:br>
              <a:rPr lang="en-GB" sz="135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1350" dirty="0">
                <a:latin typeface="Consolas" panose="020B0609020204030204" pitchFamily="49" charset="0"/>
                <a:cs typeface="Consolas" panose="020B0609020204030204" pitchFamily="49" charset="0"/>
              </a:rPr>
              <a:t>	10      24     149 ps_example1.eps</a:t>
            </a:r>
            <a:endParaRPr lang="en-GB" sz="15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A189E7-43FA-7540-81FA-0F7BC1BC4DDB}"/>
              </a:ext>
            </a:extLst>
          </p:cNvPr>
          <p:cNvSpPr txBox="1"/>
          <p:nvPr/>
        </p:nvSpPr>
        <p:spPr>
          <a:xfrm>
            <a:off x="1440180" y="4110908"/>
            <a:ext cx="6237605" cy="6532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lnSpc>
                <a:spcPct val="90000"/>
              </a:lnSpc>
              <a:spcBef>
                <a:spcPts val="750"/>
              </a:spcBef>
            </a:pPr>
            <a:r>
              <a:rPr lang="en-GB" sz="135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 ls -</a:t>
            </a:r>
            <a:r>
              <a:rPr lang="en-GB" sz="135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lh</a:t>
            </a:r>
            <a:r>
              <a:rPr lang="en-GB" sz="135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ps_example1.*</a:t>
            </a:r>
            <a:br>
              <a:rPr lang="en-GB" sz="135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135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en-GB" sz="135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rw</a:t>
            </a:r>
            <a:r>
              <a:rPr lang="en-GB" sz="135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-r--r--  1 </a:t>
            </a:r>
            <a:r>
              <a:rPr lang="en-GB" sz="135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markus</a:t>
            </a:r>
            <a:r>
              <a:rPr lang="en-GB" sz="135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 staff   149B Nov  2 16:41 ps_example1.eps</a:t>
            </a:r>
            <a:br>
              <a:rPr lang="en-GB" sz="135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135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en-GB" sz="135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rw</a:t>
            </a:r>
            <a:r>
              <a:rPr lang="en-GB" sz="135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-r--r--@ 1 </a:t>
            </a:r>
            <a:r>
              <a:rPr lang="en-GB" sz="135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markus</a:t>
            </a:r>
            <a:r>
              <a:rPr lang="en-GB" sz="135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 staff   5.3M Nov  2 17:20 ps_example1.tiff</a:t>
            </a:r>
            <a:endParaRPr lang="en-SE" sz="13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BF3CB5-D04D-B845-9A3E-9D43F1CB912C}"/>
              </a:ext>
            </a:extLst>
          </p:cNvPr>
          <p:cNvSpPr txBox="1"/>
          <p:nvPr/>
        </p:nvSpPr>
        <p:spPr>
          <a:xfrm>
            <a:off x="1423988" y="2076008"/>
            <a:ext cx="642002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57175" indent="-257175">
              <a:buFont typeface="Arial" panose="020B0604020202020204" pitchFamily="34" charset="0"/>
              <a:buChar char="•"/>
            </a:pPr>
            <a:r>
              <a:rPr lang="en-SE" dirty="0"/>
              <a:t>Vector image file size: 149 characters.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SE" dirty="0"/>
              <a:t>Image size (bounding box): 400 * 200 points. 1 pt = 1/72 inches.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SE" dirty="0"/>
              <a:t>Bitmap image at 300 dpi gives:</a:t>
            </a:r>
          </a:p>
          <a:p>
            <a:r>
              <a:rPr lang="en-SE" dirty="0"/>
              <a:t>	(300*400/72)*(300*200/72) = 1,388,889 pixels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SE" dirty="0"/>
              <a:t>32-bit tiff with no compression:</a:t>
            </a:r>
            <a:br>
              <a:rPr lang="en-SE" dirty="0"/>
            </a:br>
            <a:r>
              <a:rPr lang="en-SE" dirty="0"/>
              <a:t>	1388889*32/(8*1024*1024) = 5.3 Megabyte </a:t>
            </a:r>
          </a:p>
        </p:txBody>
      </p:sp>
    </p:spTree>
    <p:extLst>
      <p:ext uri="{BB962C8B-B14F-4D97-AF65-F5344CB8AC3E}">
        <p14:creationId xmlns:p14="http://schemas.microsoft.com/office/powerpoint/2010/main" val="37406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DA612-C9F4-D74A-8385-5DE845838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359" y="273845"/>
            <a:ext cx="8006317" cy="994172"/>
          </a:xfrm>
        </p:spPr>
        <p:txBody>
          <a:bodyPr>
            <a:noAutofit/>
          </a:bodyPr>
          <a:lstStyle/>
          <a:p>
            <a:r>
              <a:rPr lang="en-SE" sz="4000" dirty="0">
                <a:solidFill>
                  <a:schemeClr val="accent2"/>
                </a:solidFill>
              </a:rPr>
              <a:t>Lossless compression of bitmap image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FC7954-75A9-7E4A-BB50-16BF7CAA1696}"/>
              </a:ext>
            </a:extLst>
          </p:cNvPr>
          <p:cNvSpPr/>
          <p:nvPr/>
        </p:nvSpPr>
        <p:spPr>
          <a:xfrm>
            <a:off x="1439227" y="1390222"/>
            <a:ext cx="6249353" cy="1047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lnSpc>
                <a:spcPct val="90000"/>
              </a:lnSpc>
              <a:spcBef>
                <a:spcPts val="750"/>
              </a:spcBef>
            </a:pPr>
            <a:r>
              <a:rPr lang="en-GB" sz="135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 ls -</a:t>
            </a:r>
            <a:r>
              <a:rPr lang="en-GB" sz="135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lh</a:t>
            </a:r>
            <a:r>
              <a:rPr lang="en-GB" sz="135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ps_example1.*</a:t>
            </a:r>
            <a:br>
              <a:rPr lang="en-GB" sz="135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135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en-GB" sz="135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rw</a:t>
            </a:r>
            <a:r>
              <a:rPr lang="en-GB" sz="135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-r--r--  1 </a:t>
            </a:r>
            <a:r>
              <a:rPr lang="en-GB" sz="135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markus</a:t>
            </a:r>
            <a:r>
              <a:rPr lang="en-GB" sz="135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 staff   149B Nov  2 16:41 ps_example1.eps</a:t>
            </a:r>
            <a:br>
              <a:rPr lang="en-GB" sz="135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135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en-GB" sz="135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rw</a:t>
            </a:r>
            <a:r>
              <a:rPr lang="en-GB" sz="135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-r--r--@ 1 </a:t>
            </a:r>
            <a:r>
              <a:rPr lang="en-GB" sz="135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markus</a:t>
            </a:r>
            <a:r>
              <a:rPr lang="en-GB" sz="135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 staff   5.3M Nov  2 17:20 ps_example1.tiff</a:t>
            </a:r>
            <a:br>
              <a:rPr lang="en-GB" sz="135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135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en-GB" sz="135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rw</a:t>
            </a:r>
            <a:r>
              <a:rPr lang="en-GB" sz="135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-r--r--@ 1 </a:t>
            </a:r>
            <a:r>
              <a:rPr lang="en-GB" sz="135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markus</a:t>
            </a:r>
            <a:r>
              <a:rPr lang="en-GB" sz="135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 staff    33K Nov  2 17:21 ps_example1.png</a:t>
            </a:r>
          </a:p>
          <a:p>
            <a:endParaRPr lang="en-SE" sz="13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3A912C-320A-1B41-B8C0-7D020C35D472}"/>
              </a:ext>
            </a:extLst>
          </p:cNvPr>
          <p:cNvSpPr txBox="1"/>
          <p:nvPr/>
        </p:nvSpPr>
        <p:spPr>
          <a:xfrm>
            <a:off x="1964515" y="2576624"/>
            <a:ext cx="522001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SE" sz="2100" dirty="0"/>
              <a:t>5.3M / 149B = 5.3*1024*1024/149 ≈ 37000 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SE" sz="2100" dirty="0"/>
              <a:t>33K / 149B = 33*1024/149 ≈ 200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F90127-94CF-6E4F-A154-43CE26AD9AB6}"/>
              </a:ext>
            </a:extLst>
          </p:cNvPr>
          <p:cNvSpPr/>
          <p:nvPr/>
        </p:nvSpPr>
        <p:spPr>
          <a:xfrm>
            <a:off x="1439227" y="3645741"/>
            <a:ext cx="624935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35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 </a:t>
            </a:r>
            <a:r>
              <a:rPr lang="en-GB" sz="1350" dirty="0">
                <a:latin typeface="Consolas" panose="020B0609020204030204" pitchFamily="49" charset="0"/>
                <a:cs typeface="Consolas" panose="020B0609020204030204" pitchFamily="49" charset="0"/>
              </a:rPr>
              <a:t>du -h ps_example1.*</a:t>
            </a:r>
          </a:p>
          <a:p>
            <a:r>
              <a:rPr lang="en-GB" sz="1350" dirty="0">
                <a:latin typeface="Consolas" panose="020B0609020204030204" pitchFamily="49" charset="0"/>
                <a:cs typeface="Consolas" panose="020B0609020204030204" pitchFamily="49" charset="0"/>
              </a:rPr>
              <a:t>4.0K ps_example1.eps</a:t>
            </a:r>
          </a:p>
          <a:p>
            <a:r>
              <a:rPr lang="en-GB" sz="1350" dirty="0">
                <a:latin typeface="Consolas" panose="020B0609020204030204" pitchFamily="49" charset="0"/>
                <a:cs typeface="Consolas" panose="020B0609020204030204" pitchFamily="49" charset="0"/>
              </a:rPr>
              <a:t>5.3M ps_example1.tiff</a:t>
            </a:r>
          </a:p>
          <a:p>
            <a:r>
              <a:rPr lang="en-GB" sz="1350" dirty="0">
                <a:latin typeface="Consolas" panose="020B0609020204030204" pitchFamily="49" charset="0"/>
                <a:cs typeface="Consolas" panose="020B0609020204030204" pitchFamily="49" charset="0"/>
              </a:rPr>
              <a:t> 36K ps_example1.png</a:t>
            </a:r>
          </a:p>
        </p:txBody>
      </p:sp>
    </p:spTree>
    <p:extLst>
      <p:ext uri="{BB962C8B-B14F-4D97-AF65-F5344CB8AC3E}">
        <p14:creationId xmlns:p14="http://schemas.microsoft.com/office/powerpoint/2010/main" val="3221115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C4E33-5B06-BF40-8D2E-05ECFE8FB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75422"/>
            <a:ext cx="5915025" cy="448434"/>
          </a:xfrm>
        </p:spPr>
        <p:txBody>
          <a:bodyPr>
            <a:noAutofit/>
          </a:bodyPr>
          <a:lstStyle/>
          <a:p>
            <a:r>
              <a:rPr lang="en-SE" sz="4400" dirty="0">
                <a:solidFill>
                  <a:schemeClr val="accent2"/>
                </a:solidFill>
              </a:rPr>
              <a:t>Fonts (bitmap)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28DB60-EDEC-1C46-B3AA-A0DF40C93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845835"/>
            <a:ext cx="3429000" cy="22745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CEE9881-972D-B941-89A2-4C43565CE92B}"/>
              </a:ext>
            </a:extLst>
          </p:cNvPr>
          <p:cNvSpPr txBox="1"/>
          <p:nvPr/>
        </p:nvSpPr>
        <p:spPr>
          <a:xfrm>
            <a:off x="3492230" y="3663936"/>
            <a:ext cx="36595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E" sz="1350" dirty="0"/>
              <a:t>Before the 1990s there were typicallt only bitmap fonts on computers and printers; raster images of glyphs </a:t>
            </a:r>
            <a:r>
              <a:rPr lang="en-GB" sz="1350" dirty="0"/>
              <a:t>only available in certain optimized sizes (Axis). </a:t>
            </a:r>
            <a:endParaRPr lang="en-SE" sz="13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20B9A9A-02E4-C143-B3A3-659466C078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1844" y="3120405"/>
            <a:ext cx="1864995" cy="165963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5F18207-60B7-A943-8794-3DB5EAFCE6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848997"/>
            <a:ext cx="3410100" cy="227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6122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B0727-CD6C-DC4E-A773-3D59CB137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610" y="190025"/>
            <a:ext cx="5941263" cy="624402"/>
          </a:xfrm>
        </p:spPr>
        <p:txBody>
          <a:bodyPr>
            <a:noAutofit/>
          </a:bodyPr>
          <a:lstStyle/>
          <a:p>
            <a:r>
              <a:rPr lang="en-SE" sz="4400" dirty="0">
                <a:solidFill>
                  <a:schemeClr val="accent2"/>
                </a:solidFill>
              </a:rPr>
              <a:t>Fonts (scalable)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9241F2-F000-DD42-AC62-17132D4E9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3777" y="1248061"/>
            <a:ext cx="3810000" cy="1905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98E0AC0-827B-5E45-8ACD-CF3B23F62165}"/>
              </a:ext>
            </a:extLst>
          </p:cNvPr>
          <p:cNvSpPr txBox="1"/>
          <p:nvPr/>
        </p:nvSpPr>
        <p:spPr>
          <a:xfrm>
            <a:off x="1420610" y="875387"/>
            <a:ext cx="2643672" cy="36240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350" dirty="0">
                <a:latin typeface="Consolas" panose="020B0609020204030204" pitchFamily="49" charset="0"/>
                <a:cs typeface="Consolas" panose="020B0609020204030204" pitchFamily="49" charset="0"/>
              </a:rPr>
              <a:t>%!PS</a:t>
            </a:r>
          </a:p>
          <a:p>
            <a:r>
              <a:rPr lang="en-GB" sz="135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%%Creator: Markus Ringnér</a:t>
            </a:r>
          </a:p>
          <a:p>
            <a:r>
              <a:rPr lang="en-GB" sz="135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%%</a:t>
            </a:r>
            <a:r>
              <a:rPr lang="en-GB" sz="135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BoundingBox</a:t>
            </a:r>
            <a:r>
              <a:rPr lang="en-GB" sz="135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0 0 400 200</a:t>
            </a:r>
          </a:p>
          <a:p>
            <a:r>
              <a:rPr lang="en-GB" sz="135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%%End Comments</a:t>
            </a:r>
          </a:p>
          <a:p>
            <a:r>
              <a:rPr lang="en-GB" sz="1350" dirty="0" err="1">
                <a:latin typeface="Consolas" panose="020B0609020204030204" pitchFamily="49" charset="0"/>
                <a:cs typeface="Consolas" panose="020B0609020204030204" pitchFamily="49" charset="0"/>
              </a:rPr>
              <a:t>newpath</a:t>
            </a:r>
            <a:endParaRPr lang="en-GB" sz="13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350" dirty="0">
                <a:latin typeface="Consolas" panose="020B0609020204030204" pitchFamily="49" charset="0"/>
                <a:cs typeface="Consolas" panose="020B0609020204030204" pitchFamily="49" charset="0"/>
              </a:rPr>
              <a:t>150 50 </a:t>
            </a:r>
            <a:r>
              <a:rPr lang="en-GB" sz="1350" dirty="0" err="1">
                <a:latin typeface="Consolas" panose="020B0609020204030204" pitchFamily="49" charset="0"/>
                <a:cs typeface="Consolas" panose="020B0609020204030204" pitchFamily="49" charset="0"/>
              </a:rPr>
              <a:t>moveto</a:t>
            </a:r>
            <a:endParaRPr lang="en-GB" sz="13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350" dirty="0">
                <a:latin typeface="Consolas" panose="020B0609020204030204" pitchFamily="49" charset="0"/>
                <a:cs typeface="Consolas" panose="020B0609020204030204" pitchFamily="49" charset="0"/>
              </a:rPr>
              <a:t>300 100 </a:t>
            </a:r>
            <a:r>
              <a:rPr lang="en-GB" sz="1350" dirty="0" err="1">
                <a:latin typeface="Consolas" panose="020B0609020204030204" pitchFamily="49" charset="0"/>
                <a:cs typeface="Consolas" panose="020B0609020204030204" pitchFamily="49" charset="0"/>
              </a:rPr>
              <a:t>lineto</a:t>
            </a:r>
            <a:endParaRPr lang="en-GB" sz="13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350" dirty="0">
                <a:latin typeface="Consolas" panose="020B0609020204030204" pitchFamily="49" charset="0"/>
                <a:cs typeface="Consolas" panose="020B0609020204030204" pitchFamily="49" charset="0"/>
              </a:rPr>
              <a:t>150 150 </a:t>
            </a:r>
            <a:r>
              <a:rPr lang="en-GB" sz="1350" dirty="0" err="1">
                <a:latin typeface="Consolas" panose="020B0609020204030204" pitchFamily="49" charset="0"/>
                <a:cs typeface="Consolas" panose="020B0609020204030204" pitchFamily="49" charset="0"/>
              </a:rPr>
              <a:t>lineto</a:t>
            </a:r>
            <a:endParaRPr lang="en-GB" sz="13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350" dirty="0">
                <a:latin typeface="Consolas" panose="020B0609020204030204" pitchFamily="49" charset="0"/>
                <a:cs typeface="Consolas" panose="020B0609020204030204" pitchFamily="49" charset="0"/>
              </a:rPr>
              <a:t>10 </a:t>
            </a:r>
            <a:r>
              <a:rPr lang="en-GB" sz="1350" dirty="0" err="1">
                <a:latin typeface="Consolas" panose="020B0609020204030204" pitchFamily="49" charset="0"/>
                <a:cs typeface="Consolas" panose="020B0609020204030204" pitchFamily="49" charset="0"/>
              </a:rPr>
              <a:t>setlinewidth</a:t>
            </a:r>
            <a:endParaRPr lang="en-GB" sz="13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350" dirty="0">
                <a:latin typeface="Consolas" panose="020B0609020204030204" pitchFamily="49" charset="0"/>
                <a:cs typeface="Consolas" panose="020B0609020204030204" pitchFamily="49" charset="0"/>
              </a:rPr>
              <a:t>stroke</a:t>
            </a:r>
          </a:p>
          <a:p>
            <a:endParaRPr lang="en-GB" sz="13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35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/Times-Roman </a:t>
            </a:r>
            <a:r>
              <a:rPr lang="en-GB" sz="1350" dirty="0" err="1">
                <a:latin typeface="Consolas" panose="020B0609020204030204" pitchFamily="49" charset="0"/>
                <a:cs typeface="Consolas" panose="020B0609020204030204" pitchFamily="49" charset="0"/>
              </a:rPr>
              <a:t>findfont</a:t>
            </a:r>
            <a:endParaRPr lang="en-GB" sz="13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350" dirty="0">
                <a:latin typeface="Consolas" panose="020B0609020204030204" pitchFamily="49" charset="0"/>
                <a:cs typeface="Consolas" panose="020B0609020204030204" pitchFamily="49" charset="0"/>
              </a:rPr>
              <a:t>24 </a:t>
            </a:r>
            <a:r>
              <a:rPr lang="en-GB" sz="1350" dirty="0" err="1">
                <a:latin typeface="Consolas" panose="020B0609020204030204" pitchFamily="49" charset="0"/>
                <a:cs typeface="Consolas" panose="020B0609020204030204" pitchFamily="49" charset="0"/>
              </a:rPr>
              <a:t>scalefont</a:t>
            </a:r>
            <a:endParaRPr lang="en-GB" sz="13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350" dirty="0" err="1">
                <a:latin typeface="Consolas" panose="020B0609020204030204" pitchFamily="49" charset="0"/>
                <a:cs typeface="Consolas" panose="020B0609020204030204" pitchFamily="49" charset="0"/>
              </a:rPr>
              <a:t>setfont</a:t>
            </a:r>
            <a:endParaRPr lang="en-GB" sz="13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350" dirty="0" err="1">
                <a:latin typeface="Consolas" panose="020B0609020204030204" pitchFamily="49" charset="0"/>
                <a:cs typeface="Consolas" panose="020B0609020204030204" pitchFamily="49" charset="0"/>
              </a:rPr>
              <a:t>newpath</a:t>
            </a:r>
            <a:endParaRPr lang="en-GB" sz="13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350" dirty="0">
                <a:latin typeface="Consolas" panose="020B0609020204030204" pitchFamily="49" charset="0"/>
                <a:cs typeface="Consolas" panose="020B0609020204030204" pitchFamily="49" charset="0"/>
              </a:rPr>
              <a:t>50 100 </a:t>
            </a:r>
            <a:r>
              <a:rPr lang="en-GB" sz="1350" dirty="0" err="1">
                <a:latin typeface="Consolas" panose="020B0609020204030204" pitchFamily="49" charset="0"/>
                <a:cs typeface="Consolas" panose="020B0609020204030204" pitchFamily="49" charset="0"/>
              </a:rPr>
              <a:t>moveto</a:t>
            </a:r>
            <a:endParaRPr lang="en-GB" sz="13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350" dirty="0">
                <a:latin typeface="Consolas" panose="020B0609020204030204" pitchFamily="49" charset="0"/>
                <a:cs typeface="Consolas" panose="020B0609020204030204" pitchFamily="49" charset="0"/>
              </a:rPr>
              <a:t>(Example) show</a:t>
            </a:r>
            <a:endParaRPr lang="en-SE" sz="135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96A7F7-8BCB-FB44-A6A6-21118C2B1D77}"/>
              </a:ext>
            </a:extLst>
          </p:cNvPr>
          <p:cNvSpPr/>
          <p:nvPr/>
        </p:nvSpPr>
        <p:spPr>
          <a:xfrm>
            <a:off x="4583777" y="1248811"/>
            <a:ext cx="3809700" cy="1906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 sz="13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6D6463-4E06-5048-882E-E6CB9F65315F}"/>
              </a:ext>
            </a:extLst>
          </p:cNvPr>
          <p:cNvSpPr txBox="1"/>
          <p:nvPr/>
        </p:nvSpPr>
        <p:spPr>
          <a:xfrm>
            <a:off x="4590012" y="3496517"/>
            <a:ext cx="3867534" cy="13388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GB" sz="1350" dirty="0"/>
              <a:t>Special facilities in the PostScript language:</a:t>
            </a:r>
          </a:p>
          <a:p>
            <a:r>
              <a:rPr lang="en-GB" sz="1350" dirty="0"/>
              <a:t>	Characters from fonts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GB" sz="1350" dirty="0"/>
              <a:t>Apple LaserWriter (1985 with postscript)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GB" sz="1350" dirty="0"/>
              <a:t>Can make your own fonts.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GB" sz="1350" dirty="0"/>
              <a:t>Programming language, even recursive functions.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GB" sz="1350" dirty="0"/>
              <a:t>Hinting and anti-aliasing</a:t>
            </a:r>
            <a:endParaRPr lang="en-SE" sz="1350" dirty="0"/>
          </a:p>
        </p:txBody>
      </p:sp>
    </p:spTree>
    <p:extLst>
      <p:ext uri="{BB962C8B-B14F-4D97-AF65-F5344CB8AC3E}">
        <p14:creationId xmlns:p14="http://schemas.microsoft.com/office/powerpoint/2010/main" val="1197634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E44E5-DA74-E246-AC8A-1FA3896E6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E" sz="4400" dirty="0">
                <a:solidFill>
                  <a:schemeClr val="accent2"/>
                </a:solidFill>
              </a:rPr>
              <a:t>Scaling images (bitmap)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8D63CC-BDBB-C042-A1B8-5CF8D7AA1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364549"/>
            <a:ext cx="6858001" cy="346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309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AA266-2FDD-154F-8CB6-DF6033A8E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E" sz="4400" dirty="0">
                <a:solidFill>
                  <a:schemeClr val="accent2"/>
                </a:solidFill>
              </a:rPr>
              <a:t>Scaling images (vector)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C76019-D697-2843-9FD2-A8A32DC9EB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008382"/>
            <a:ext cx="6858000" cy="38430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A67F3E9-FAC1-5F41-9409-8981F9470580}"/>
              </a:ext>
            </a:extLst>
          </p:cNvPr>
          <p:cNvSpPr txBox="1"/>
          <p:nvPr/>
        </p:nvSpPr>
        <p:spPr>
          <a:xfrm>
            <a:off x="2185988" y="4533900"/>
            <a:ext cx="506722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SE" sz="1350" dirty="0"/>
              <a:t>Also scaling to small sizes. For example gene names in dense plots.</a:t>
            </a:r>
          </a:p>
        </p:txBody>
      </p:sp>
    </p:spTree>
    <p:extLst>
      <p:ext uri="{BB962C8B-B14F-4D97-AF65-F5344CB8AC3E}">
        <p14:creationId xmlns:p14="http://schemas.microsoft.com/office/powerpoint/2010/main" val="1120877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6AA1F-7EBD-D44A-A2F9-217FFE3A9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E" sz="4400" dirty="0">
                <a:solidFill>
                  <a:schemeClr val="accent2"/>
                </a:solidFill>
              </a:rPr>
              <a:t>Vector images vs bitmap images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86867-6F73-9949-A448-350379762E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In terms of file size, vector images are typically much smaller than the corresponding bitmap.</a:t>
            </a:r>
          </a:p>
          <a:p>
            <a:r>
              <a:rPr lang="en-GB" dirty="0"/>
              <a:t>Vector images are scalable </a:t>
            </a:r>
            <a:r>
              <a:rPr lang="en-GB" sz="1800" dirty="0"/>
              <a:t>(</a:t>
            </a:r>
            <a:r>
              <a:rPr lang="en-GB" dirty="0"/>
              <a:t>redrawn to compensate for scale changes)</a:t>
            </a:r>
            <a:r>
              <a:rPr lang="en-GB" sz="1800" dirty="0"/>
              <a:t>.</a:t>
            </a:r>
            <a:r>
              <a:rPr lang="en-GB" dirty="0"/>
              <a:t> Bitmap graphics are affected by resolution.</a:t>
            </a:r>
          </a:p>
          <a:p>
            <a:r>
              <a:rPr lang="en-GB" dirty="0"/>
              <a:t>Vector images are simple to edit (Adobe Illustrator, Affinity Designer, …)</a:t>
            </a:r>
          </a:p>
          <a:p>
            <a:r>
              <a:rPr lang="en-GB" dirty="0"/>
              <a:t>Bitmap fonts can be faster to draw/print (not requiring computer processing).</a:t>
            </a:r>
          </a:p>
          <a:p>
            <a:r>
              <a:rPr lang="en-GB" dirty="0"/>
              <a:t>Vector graphics are not suited for photographs.</a:t>
            </a:r>
          </a:p>
          <a:p>
            <a:r>
              <a:rPr lang="en-GB" dirty="0"/>
              <a:t>Drawing vs Painting.</a:t>
            </a:r>
          </a:p>
          <a:p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3751537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A68B0-22EB-5D45-A7B7-3D215D68B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95110"/>
            <a:ext cx="5915025" cy="495776"/>
          </a:xfrm>
        </p:spPr>
        <p:txBody>
          <a:bodyPr>
            <a:noAutofit/>
          </a:bodyPr>
          <a:lstStyle/>
          <a:p>
            <a:r>
              <a:rPr lang="en-SE" sz="4400" dirty="0">
                <a:solidFill>
                  <a:schemeClr val="accent2"/>
                </a:solidFill>
              </a:rPr>
              <a:t>Painting vs Drawing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E29E54-A77E-1341-85D1-BA0CEE8A7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61073"/>
            <a:ext cx="6858000" cy="4166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606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617CA-B228-0645-9D61-3546D9C7A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749" y="66686"/>
            <a:ext cx="8027581" cy="610076"/>
          </a:xfrm>
        </p:spPr>
        <p:txBody>
          <a:bodyPr>
            <a:noAutofit/>
          </a:bodyPr>
          <a:lstStyle/>
          <a:p>
            <a:r>
              <a:rPr lang="en-SE" sz="4400" dirty="0">
                <a:solidFill>
                  <a:schemeClr val="accent2"/>
                </a:solidFill>
              </a:rPr>
              <a:t>Mixing bitmap and vector graphics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2F69D5-347C-CC40-B75F-A9C90FF17ED9}"/>
              </a:ext>
            </a:extLst>
          </p:cNvPr>
          <p:cNvSpPr txBox="1"/>
          <p:nvPr/>
        </p:nvSpPr>
        <p:spPr>
          <a:xfrm>
            <a:off x="1502494" y="4138185"/>
            <a:ext cx="58050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SE" sz="1350" dirty="0"/>
              <a:t>File size of vector image larger than of corresponding bitmap? “Photograph”?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SE" sz="1350" dirty="0"/>
              <a:t>Convert to bitmap as late as possible and to the requested size and resolution.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SE" sz="1350" dirty="0"/>
              <a:t>Have “code” to regenerate your plots for new sizes and resolutions.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6F1607-FD59-8948-B7A2-C43778C6A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2493" y="652483"/>
            <a:ext cx="2486025" cy="34385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F9F4A7B-A8E7-9843-881D-D540E5FC48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4996" y="2002201"/>
            <a:ext cx="3827145" cy="21669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BFDE589-992C-2E41-A446-97EFF5232E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9221" y="708118"/>
            <a:ext cx="978694" cy="1302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398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8DA37-EAA3-EE46-9024-05636034A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E" sz="4400" dirty="0">
                <a:solidFill>
                  <a:schemeClr val="accent2"/>
                </a:solidFill>
              </a:rPr>
              <a:t>File formats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7DD33-9826-C54B-B4DD-4AFFB8DC19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E" dirty="0"/>
              <a:t>Vector graphics: pdf, eps, svg, …</a:t>
            </a:r>
          </a:p>
          <a:p>
            <a:pPr marL="342900" lvl="1" indent="0">
              <a:buNone/>
            </a:pPr>
            <a:r>
              <a:rPr lang="en-SE" dirty="0"/>
              <a:t>(compound formats)</a:t>
            </a:r>
          </a:p>
          <a:p>
            <a:pPr marL="342900" lvl="1" indent="0">
              <a:buNone/>
            </a:pPr>
            <a:endParaRPr lang="en-SE" dirty="0"/>
          </a:p>
          <a:p>
            <a:r>
              <a:rPr lang="en-SE" dirty="0"/>
              <a:t>Bitmap file formats: jpg, png, tiff, …</a:t>
            </a:r>
          </a:p>
          <a:p>
            <a:pPr marL="342900" lvl="1" indent="0">
              <a:buNone/>
            </a:pPr>
            <a:r>
              <a:rPr lang="en-SE" dirty="0"/>
              <a:t>(lossy or lossless data compression)</a:t>
            </a:r>
          </a:p>
        </p:txBody>
      </p:sp>
    </p:spTree>
    <p:extLst>
      <p:ext uri="{BB962C8B-B14F-4D97-AF65-F5344CB8AC3E}">
        <p14:creationId xmlns:p14="http://schemas.microsoft.com/office/powerpoint/2010/main" val="31934251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C5650-BA7C-4849-B1D4-549B6A99A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4487" y="167165"/>
            <a:ext cx="3704273" cy="591755"/>
          </a:xfrm>
        </p:spPr>
        <p:txBody>
          <a:bodyPr>
            <a:noAutofit/>
          </a:bodyPr>
          <a:lstStyle/>
          <a:p>
            <a:r>
              <a:rPr lang="en-SE" sz="4400" dirty="0">
                <a:solidFill>
                  <a:schemeClr val="accent2"/>
                </a:solidFill>
              </a:rPr>
              <a:t>RGB and CMYK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B91D337-5945-F84A-ADA9-71C9C4EEF023}"/>
              </a:ext>
            </a:extLst>
          </p:cNvPr>
          <p:cNvGrpSpPr/>
          <p:nvPr/>
        </p:nvGrpSpPr>
        <p:grpSpPr>
          <a:xfrm>
            <a:off x="1334864" y="3838260"/>
            <a:ext cx="6474272" cy="1123325"/>
            <a:chOff x="255819" y="5117680"/>
            <a:chExt cx="8632362" cy="149776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612BC6B-DC29-1343-8D34-E0C91FEE07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65911" y="5117680"/>
              <a:ext cx="2922270" cy="1403350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9DBFC73-1A2D-DE4F-8AED-7E59CF68EBDE}"/>
                </a:ext>
              </a:extLst>
            </p:cNvPr>
            <p:cNvSpPr txBox="1"/>
            <p:nvPr/>
          </p:nvSpPr>
          <p:spPr>
            <a:xfrm>
              <a:off x="255819" y="5384340"/>
              <a:ext cx="5626821" cy="12311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14313" indent="-214313">
                <a:buFont typeface="Arial" panose="020B0604020202020204" pitchFamily="34" charset="0"/>
                <a:buChar char="•"/>
              </a:pPr>
              <a:r>
                <a:rPr lang="en-GB" sz="1350" dirty="0"/>
                <a:t>If you are going to print: CMYK</a:t>
              </a:r>
            </a:p>
            <a:p>
              <a:pPr marL="214313" indent="-214313">
                <a:buFont typeface="Arial" panose="020B0604020202020204" pitchFamily="34" charset="0"/>
                <a:buChar char="•"/>
              </a:pPr>
              <a:r>
                <a:rPr lang="en-GB" sz="1350" dirty="0"/>
                <a:t>If only to be seen digitally: RGB</a:t>
              </a:r>
            </a:p>
            <a:p>
              <a:pPr marL="214313" indent="-214313">
                <a:buFont typeface="Arial" panose="020B0604020202020204" pitchFamily="34" charset="0"/>
                <a:buChar char="•"/>
              </a:pPr>
              <a:r>
                <a:rPr lang="en-GB" sz="1350" dirty="0"/>
                <a:t>Most modern printers will convert automatically, but …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FB8DD87F-8D9C-8E40-95A8-E9D4A84EEABF}"/>
              </a:ext>
            </a:extLst>
          </p:cNvPr>
          <p:cNvSpPr/>
          <p:nvPr/>
        </p:nvSpPr>
        <p:spPr>
          <a:xfrm>
            <a:off x="1424940" y="808978"/>
            <a:ext cx="5074920" cy="11310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GB" sz="1350" dirty="0"/>
              <a:t>Primary </a:t>
            </a:r>
            <a:r>
              <a:rPr lang="en-GB" sz="1350" dirty="0" err="1"/>
              <a:t>colors</a:t>
            </a:r>
            <a:r>
              <a:rPr lang="en-GB" sz="1350" dirty="0"/>
              <a:t> are arbitrary, but …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GB" sz="1350" dirty="0"/>
              <a:t>RGB: Red-Green-Blue – additive type of </a:t>
            </a:r>
            <a:r>
              <a:rPr lang="en-GB" sz="1350" dirty="0" err="1"/>
              <a:t>color</a:t>
            </a:r>
            <a:r>
              <a:rPr lang="en-GB" sz="1350" dirty="0"/>
              <a:t> mode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GB" sz="1350" dirty="0"/>
              <a:t>CMYK: Cyan-Magenta-Yellow-Black – subtractive type of </a:t>
            </a:r>
            <a:r>
              <a:rPr lang="en-GB" sz="1350" dirty="0" err="1"/>
              <a:t>color</a:t>
            </a:r>
            <a:r>
              <a:rPr lang="en-GB" sz="1350" dirty="0"/>
              <a:t> mode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GB" sz="1350" dirty="0"/>
              <a:t>Cyan, magenta, and yellow are lighter than red, green, and blue.</a:t>
            </a:r>
            <a:endParaRPr lang="en-SE" sz="13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DA43827-C116-5F4A-A76F-5F500BDFE0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4723" y="552346"/>
            <a:ext cx="740093" cy="6915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A05844C-58B0-F14F-B517-DAFA0856F0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1185" y="1882202"/>
            <a:ext cx="4377690" cy="18288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8228F12-BB8E-874C-A1DD-E7692E9BF1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4723" y="1243861"/>
            <a:ext cx="740093" cy="691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631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9447F-B118-0643-A1E9-7C803D829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805" y="273845"/>
            <a:ext cx="7623545" cy="994172"/>
          </a:xfrm>
        </p:spPr>
        <p:txBody>
          <a:bodyPr>
            <a:normAutofit/>
          </a:bodyPr>
          <a:lstStyle/>
          <a:p>
            <a:r>
              <a:rPr lang="en-SE" sz="2800" dirty="0">
                <a:solidFill>
                  <a:schemeClr val="accent2"/>
                </a:solidFill>
              </a:rPr>
              <a:t>Generate figures with consistent sizes and font sizes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309D3-7F9E-4F4C-ADB1-418A9CB0F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E" dirty="0"/>
              <a:t>Explicitly specify font sizes.</a:t>
            </a:r>
          </a:p>
          <a:p>
            <a:r>
              <a:rPr lang="en-GB" dirty="0"/>
              <a:t>Explicitly specify the width and height of the plot. Easier in inches/</a:t>
            </a:r>
            <a:r>
              <a:rPr lang="en-GB" dirty="0" err="1"/>
              <a:t>millimeters</a:t>
            </a:r>
            <a:r>
              <a:rPr lang="en-GB" dirty="0"/>
              <a:t> than pixels + dpi.</a:t>
            </a:r>
          </a:p>
          <a:p>
            <a:r>
              <a:rPr lang="en-GB" dirty="0"/>
              <a:t>Export the plot with </a:t>
            </a:r>
            <a:r>
              <a:rPr lang="en-GB" dirty="0" err="1"/>
              <a:t>ggsave</a:t>
            </a:r>
            <a:r>
              <a:rPr lang="en-GB" dirty="0"/>
              <a:t>, and not by copying or exporting from R/</a:t>
            </a:r>
            <a:r>
              <a:rPr lang="en-GB" dirty="0" err="1"/>
              <a:t>Rstudio</a:t>
            </a:r>
            <a:r>
              <a:rPr lang="en-GB" dirty="0"/>
              <a:t> window (that can be resized arbitrarily), to ensure a controlled and reproducible process.</a:t>
            </a:r>
          </a:p>
          <a:p>
            <a:endParaRPr lang="en-GB" dirty="0"/>
          </a:p>
          <a:p>
            <a:r>
              <a:rPr lang="en-GB" dirty="0"/>
              <a:t>If you print on paper to test, remember to set scale to 100% or similar (not fit to page …).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29127417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4E383-1289-EB4D-9DC4-83C65E967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>
                <a:solidFill>
                  <a:schemeClr val="accent2"/>
                </a:solidFill>
              </a:rPr>
              <a:t>Example plot – 90 mm wide, min font size 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C5A9D-1861-024E-BEBE-5B9AA0A0F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720097"/>
            <a:ext cx="7886700" cy="23096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library(ggplot2)</a:t>
            </a:r>
          </a:p>
          <a:p>
            <a:pPr marL="0" indent="0"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x &lt;- 1:10</a:t>
            </a:r>
            <a:b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y &lt;- x*abs(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rnorm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(10))</a:t>
            </a:r>
          </a:p>
          <a:p>
            <a:pPr marL="0" indent="0"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p1 &lt;-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ggplot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data.frame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x,y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), mapping=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aes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(x=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x,y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=y)) +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geom_point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 +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geom_smooth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 +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ggtitle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("The Title") + theme(title=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element_text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80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size=14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hjust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=0.5),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axis.title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element_text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80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size=10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),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axis.text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element_text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80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size=6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7648107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805CA-827B-9046-90C5-BCE06C68B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4284926"/>
            <a:ext cx="7886700" cy="58479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ggsave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(filename=</a:t>
            </a:r>
            <a:r>
              <a:rPr lang="en-GB" sz="18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gg_example.pdf",plot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=p1, device="pdf", </a:t>
            </a:r>
            <a:r>
              <a:rPr lang="en-GB" sz="180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height=90, width=90, units="mm"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dpi=300)</a:t>
            </a:r>
            <a:endParaRPr lang="en-SE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S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351251-990F-A442-AA85-2C0CF33AB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9100" y="1001391"/>
            <a:ext cx="3225800" cy="322580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32C2AE8-FC33-D44E-986C-42D2FEC3D1EA}"/>
              </a:ext>
            </a:extLst>
          </p:cNvPr>
          <p:cNvSpPr txBox="1">
            <a:spLocks/>
          </p:cNvSpPr>
          <p:nvPr/>
        </p:nvSpPr>
        <p:spPr>
          <a:xfrm>
            <a:off x="781050" y="212652"/>
            <a:ext cx="7886700" cy="6140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ggsave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(filename=</a:t>
            </a:r>
            <a:r>
              <a:rPr lang="en-GB" sz="18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gg_example.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png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",plot=p1, device="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png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", </a:t>
            </a:r>
            <a:r>
              <a:rPr lang="en-GB" sz="180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height=90, width=90, units="mm"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dpi=300)</a:t>
            </a:r>
            <a:endParaRPr lang="en-SE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3062808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01C19-E27F-7F4A-A23B-422CA7E77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E" sz="4400" dirty="0">
                <a:solidFill>
                  <a:schemeClr val="accent2"/>
                </a:solidFill>
              </a:rPr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359FF-76C9-1748-A004-62258BA8B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4488" y="1369219"/>
            <a:ext cx="5915025" cy="855983"/>
          </a:xfrm>
        </p:spPr>
        <p:txBody>
          <a:bodyPr>
            <a:normAutofit fontScale="92500"/>
          </a:bodyPr>
          <a:lstStyle/>
          <a:p>
            <a:r>
              <a:rPr lang="en-SE" dirty="0"/>
              <a:t>Hopefully this has provided some helpful initial thoughts on how to produce </a:t>
            </a:r>
            <a:r>
              <a:rPr lang="en-GB" dirty="0"/>
              <a:t>publication quality figures.</a:t>
            </a:r>
            <a:endParaRPr lang="en-SE" dirty="0"/>
          </a:p>
          <a:p>
            <a:endParaRPr lang="en-S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E945F3-F9F8-403B-D144-E5DCAEAE2FF3}"/>
              </a:ext>
            </a:extLst>
          </p:cNvPr>
          <p:cNvSpPr txBox="1"/>
          <p:nvPr/>
        </p:nvSpPr>
        <p:spPr>
          <a:xfrm>
            <a:off x="676656" y="2389370"/>
            <a:ext cx="4572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E" sz="4400" dirty="0">
                <a:solidFill>
                  <a:schemeClr val="accent2"/>
                </a:solidFill>
                <a:latin typeface="+mj-lt"/>
              </a:rPr>
              <a:t>Inspiration</a:t>
            </a:r>
            <a:endParaRPr lang="en-SE" sz="4400"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9C0623-6B61-23B1-EEB0-F059B0ED5C3D}"/>
              </a:ext>
            </a:extLst>
          </p:cNvPr>
          <p:cNvSpPr txBox="1"/>
          <p:nvPr/>
        </p:nvSpPr>
        <p:spPr>
          <a:xfrm>
            <a:off x="1143000" y="305420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dirty="0" err="1"/>
              <a:t>www.edwardtufte.com</a:t>
            </a:r>
            <a:endParaRPr lang="en-SE" dirty="0"/>
          </a:p>
        </p:txBody>
      </p:sp>
      <p:pic>
        <p:nvPicPr>
          <p:cNvPr id="9" name="Picture 8" descr="A stack of books with text on them&#10;&#10;AI-generated content may be incorrect.">
            <a:extLst>
              <a:ext uri="{FF2B5EF4-FFF2-40B4-BE49-F238E27FC236}">
                <a16:creationId xmlns:a16="http://schemas.microsoft.com/office/drawing/2014/main" id="{0ABEF08D-01AB-6862-0653-29B6C69C6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8768" y="2918299"/>
            <a:ext cx="3469386" cy="2047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8395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1194651-1FD6-D440-99A9-DC377224A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3D73FF-96FB-4641-A9E3-86FE90C2236A}"/>
              </a:ext>
            </a:extLst>
          </p:cNvPr>
          <p:cNvSpPr txBox="1"/>
          <p:nvPr/>
        </p:nvSpPr>
        <p:spPr>
          <a:xfrm>
            <a:off x="1078257" y="3714046"/>
            <a:ext cx="551933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Thank you. Questions?</a:t>
            </a:r>
            <a:r>
              <a:rPr lang="en-SE" sz="440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77CB652-C643-3A4C-A2EF-5DA4891C80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8464" y="213244"/>
            <a:ext cx="3891199" cy="792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8024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898</TotalTime>
  <Words>1083</Words>
  <Application>Microsoft Macintosh PowerPoint</Application>
  <PresentationFormat>On-screen Show (16:9)</PresentationFormat>
  <Paragraphs>123</Paragraphs>
  <Slides>23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Consolas</vt:lpstr>
      <vt:lpstr>Courier New</vt:lpstr>
      <vt:lpstr>Office Theme</vt:lpstr>
      <vt:lpstr>PowerPoint Presentation</vt:lpstr>
      <vt:lpstr>Outline</vt:lpstr>
      <vt:lpstr>What is an image?</vt:lpstr>
      <vt:lpstr>This is an image!</vt:lpstr>
      <vt:lpstr>Bitmap (or raster) image</vt:lpstr>
      <vt:lpstr>Vector image in (encapsulated) postscript</vt:lpstr>
      <vt:lpstr>John Warnock</vt:lpstr>
      <vt:lpstr>File sizes of images</vt:lpstr>
      <vt:lpstr>Lossless compression of bitmap image</vt:lpstr>
      <vt:lpstr>Fonts (bitmap)</vt:lpstr>
      <vt:lpstr>Fonts (scalable)</vt:lpstr>
      <vt:lpstr>Scaling images (bitmap)</vt:lpstr>
      <vt:lpstr>Scaling images (vector)</vt:lpstr>
      <vt:lpstr>Vector images vs bitmap images</vt:lpstr>
      <vt:lpstr>Painting vs Drawing</vt:lpstr>
      <vt:lpstr>Mixing bitmap and vector graphics</vt:lpstr>
      <vt:lpstr>File formats</vt:lpstr>
      <vt:lpstr>RGB and CMYK</vt:lpstr>
      <vt:lpstr>Generate figures with consistent sizes and font sizes</vt:lpstr>
      <vt:lpstr>Example plot – 90 mm wide, min font size 6</vt:lpstr>
      <vt:lpstr>PowerPoint Presentation</vt:lpstr>
      <vt:lpstr>Conclusions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Markus Ringnér</dc:creator>
  <cp:lastModifiedBy>Markus Ringnér</cp:lastModifiedBy>
  <cp:revision>74</cp:revision>
  <dcterms:created xsi:type="dcterms:W3CDTF">2020-11-02T14:36:53Z</dcterms:created>
  <dcterms:modified xsi:type="dcterms:W3CDTF">2026-05-05T12:39:28Z</dcterms:modified>
</cp:coreProperties>
</file>